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Batch Inference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OpenAI-Style Batch Processing Platform</a:t>
            </a:r>
          </a:p>
          <a:p>
            <a:r>
              <a:t>Production-ready • Kubernetes-native • Cost-optimized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Need to process large volumes of AI inference requests efficiently</a:t>
            </a:r>
          </a:p>
          <a:p>
            <a:pPr>
              <a:defRPr sz="1800">
                <a:latin typeface="Calibri"/>
              </a:defRPr>
            </a:pPr>
            <a:r>
              <a:t>Balance cost optimization (spot instances) with reliability (dedicated)</a:t>
            </a:r>
          </a:p>
          <a:p>
            <a:pPr>
              <a:defRPr sz="1800">
                <a:latin typeface="Calibri"/>
              </a:defRPr>
            </a:pPr>
            <a:r>
              <a:t>Ensure SLA compliance for time-sensitive workloads</a:t>
            </a:r>
          </a:p>
          <a:p>
            <a:pPr>
              <a:defRPr sz="1800">
                <a:latin typeface="Calibri"/>
              </a:defRPr>
            </a:pPr>
            <a:r>
              <a:t>Provide visibility and control over batch processing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Solution: Enterprise-grade batch inference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✓ JSONL File Upload &amp; Batch Creation</a:t>
            </a:r>
          </a:p>
          <a:p>
            <a:pPr>
              <a:defRPr sz="1800">
                <a:latin typeface="Calibri"/>
              </a:defRPr>
            </a:pPr>
            <a:r>
              <a:t>  • Upload large datasets via web UI or API</a:t>
            </a:r>
          </a:p>
          <a:p>
            <a:pPr>
              <a:defRPr sz="1800">
                <a:latin typeface="Calibri"/>
              </a:defRPr>
            </a:pPr>
            <a:r>
              <a:t>  • Automatic splitting into individual requests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✓ Priority-Based Scheduling</a:t>
            </a:r>
          </a:p>
          <a:p>
            <a:pPr>
              <a:defRPr sz="1800">
                <a:latin typeface="Calibri"/>
              </a:defRPr>
            </a:pPr>
            <a:r>
              <a:t>  • Normal (1), Medium (5), High (10+) priority levels</a:t>
            </a:r>
          </a:p>
          <a:p>
            <a:pPr>
              <a:defRPr sz="1800">
                <a:latin typeface="Calibri"/>
              </a:defRPr>
            </a:pPr>
            <a:r>
              <a:t>  • High-priority batches processed first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✓ SLA-Aware Processing</a:t>
            </a:r>
          </a:p>
          <a:p>
            <a:pPr>
              <a:defRPr sz="1800">
                <a:latin typeface="Calibri"/>
              </a:defRPr>
            </a:pPr>
            <a:r>
              <a:t>  • Automatic escalation from spot to dedicated workers</a:t>
            </a:r>
          </a:p>
          <a:p>
            <a:pPr>
              <a:defRPr sz="1800">
                <a:latin typeface="Calibri"/>
              </a:defRPr>
            </a:pPr>
            <a:r>
              <a:t>  • Deadline-based GPU pool assignment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✓ Request Deduplication</a:t>
            </a:r>
          </a:p>
          <a:p>
            <a:pPr>
              <a:defRPr sz="1800">
                <a:latin typeface="Calibri"/>
              </a:defRPr>
            </a:pPr>
            <a:r>
              <a:t>  • Automatic detection of duplicate requests</a:t>
            </a:r>
          </a:p>
          <a:p>
            <a:pPr>
              <a:defRPr sz="1800">
                <a:latin typeface="Calibri"/>
              </a:defRPr>
            </a:pPr>
            <a:r>
              <a:t>  • Reuse outputs from previous completions</a:t>
            </a:r>
          </a:p>
          <a:p>
            <a:pPr>
              <a:defRPr sz="1800">
                <a:latin typeface="Calibri"/>
              </a:defRPr>
            </a:pPr>
            <a:r>
              <a:t>  • Significant cost and time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User/Portal → API Gateway → PostgreSQL</a:t>
            </a:r>
          </a:p>
          <a:p>
            <a:pPr>
              <a:defRPr sz="1800">
                <a:latin typeface="Calibri"/>
              </a:defRPr>
            </a:pPr>
            <a:r>
              <a:t>                    ↓</a:t>
            </a:r>
          </a:p>
          <a:p>
            <a:pPr>
              <a:defRPr sz="1800">
                <a:latin typeface="Calibri"/>
              </a:defRPr>
            </a:pPr>
            <a:r>
              <a:t>            Scheduler Service</a:t>
            </a:r>
          </a:p>
          <a:p>
            <a:pPr>
              <a:defRPr sz="1800">
                <a:latin typeface="Calibri"/>
              </a:defRPr>
            </a:pPr>
            <a:r>
              <a:t>                    ↓</a:t>
            </a:r>
          </a:p>
          <a:p>
            <a:pPr>
              <a:defRPr sz="1800">
                <a:latin typeface="Calibri"/>
              </a:defRPr>
            </a:pPr>
            <a:r>
              <a:t>        ┌───────────┴───────────┐</a:t>
            </a:r>
          </a:p>
          <a:p>
            <a:pPr>
              <a:defRPr sz="1800">
                <a:latin typeface="Calibri"/>
              </a:defRPr>
            </a:pPr>
            <a:r>
              <a:t>        ↓                       ↓</a:t>
            </a:r>
          </a:p>
          <a:p>
            <a:pPr>
              <a:defRPr sz="1800">
                <a:latin typeface="Calibri"/>
              </a:defRPr>
            </a:pPr>
            <a:r>
              <a:t>   Spot Workers          Dedicated Workers</a:t>
            </a:r>
          </a:p>
          <a:p>
            <a:pPr>
              <a:defRPr sz="1800">
                <a:latin typeface="Calibri"/>
              </a:defRPr>
            </a:pPr>
            <a:r>
              <a:t>        ↓                       ↓</a:t>
            </a:r>
          </a:p>
          <a:p>
            <a:pPr>
              <a:defRPr sz="1800">
                <a:latin typeface="Calibri"/>
              </a:defRPr>
            </a:pPr>
            <a:r>
              <a:t>    PostgreSQL ←───────────────┘</a:t>
            </a:r>
          </a:p>
          <a:p>
            <a:pPr>
              <a:defRPr sz="1800">
                <a:latin typeface="Calibri"/>
              </a:defRPr>
            </a:pPr>
            <a:r>
              <a:t>        ↓</a:t>
            </a:r>
          </a:p>
          <a:p>
            <a:pPr>
              <a:defRPr sz="1800">
                <a:latin typeface="Calibri"/>
              </a:defRPr>
            </a:pPr>
            <a:r>
              <a:t>  Batch Portal UI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Key Components:</a:t>
            </a:r>
          </a:p>
          <a:p>
            <a:pPr>
              <a:defRPr sz="1800">
                <a:latin typeface="Calibri"/>
              </a:defRPr>
            </a:pPr>
            <a:r>
              <a:t>• API Gateway (REST API)</a:t>
            </a:r>
          </a:p>
          <a:p>
            <a:pPr>
              <a:defRPr sz="1800">
                <a:latin typeface="Calibri"/>
              </a:defRPr>
            </a:pPr>
            <a:r>
              <a:t>• Scheduler Service (batch orchestration)</a:t>
            </a:r>
          </a:p>
          <a:p>
            <a:pPr>
              <a:defRPr sz="1800">
                <a:latin typeface="Calibri"/>
              </a:defRPr>
            </a:pPr>
            <a:r>
              <a:t>• GPU Workers (spot &amp; dedicated pools)</a:t>
            </a:r>
          </a:p>
          <a:p>
            <a:pPr>
              <a:defRPr sz="1800">
                <a:latin typeface="Calibri"/>
              </a:defRPr>
            </a:pPr>
            <a:r>
              <a:t>• PostgreSQL (durable queue + storage)</a:t>
            </a:r>
          </a:p>
          <a:p>
            <a:pPr>
              <a:defRPr sz="1800">
                <a:latin typeface="Calibri"/>
              </a:defRPr>
            </a:pPr>
            <a:r>
              <a:t>• Batch Portal (web UI)</a:t>
            </a:r>
          </a:p>
          <a:p>
            <a:pPr>
              <a:defRPr sz="1800">
                <a:latin typeface="Calibri"/>
              </a:defRPr>
            </a:pPr>
            <a:r>
              <a:t>• Monitoring Stack (Prometheus/Grafana)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Backend:</a:t>
            </a:r>
          </a:p>
          <a:p>
            <a:pPr>
              <a:defRPr sz="1800">
                <a:latin typeface="Calibri"/>
              </a:defRPr>
            </a:pPr>
            <a:r>
              <a:t>• .NET 8 (C#)</a:t>
            </a:r>
          </a:p>
          <a:p>
            <a:pPr>
              <a:defRPr sz="1800">
                <a:latin typeface="Calibri"/>
              </a:defRPr>
            </a:pPr>
            <a:r>
              <a:t>• ASP.NET Core (REST API)</a:t>
            </a:r>
          </a:p>
          <a:p>
            <a:pPr>
              <a:defRPr sz="1800">
                <a:latin typeface="Calibri"/>
              </a:defRPr>
            </a:pPr>
            <a:r>
              <a:t>• Entity Framework Core (ORM)</a:t>
            </a:r>
          </a:p>
          <a:p>
            <a:pPr>
              <a:defRPr sz="1800">
                <a:latin typeface="Calibri"/>
              </a:defRPr>
            </a:pPr>
            <a:r>
              <a:t>• PostgreSQL (database &amp; queue)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Infrastructure:</a:t>
            </a:r>
          </a:p>
          <a:p>
            <a:pPr>
              <a:defRPr sz="1800">
                <a:latin typeface="Calibri"/>
              </a:defRPr>
            </a:pPr>
            <a:r>
              <a:t>• Kubernetes (orchestration)</a:t>
            </a:r>
          </a:p>
          <a:p>
            <a:pPr>
              <a:defRPr sz="1800">
                <a:latin typeface="Calibri"/>
              </a:defRPr>
            </a:pPr>
            <a:r>
              <a:t>• Docker (containerization)</a:t>
            </a:r>
          </a:p>
          <a:p>
            <a:pPr>
              <a:defRPr sz="1800">
                <a:latin typeface="Calibri"/>
              </a:defRPr>
            </a:pPr>
            <a:r>
              <a:t>• Prometheus (metrics)</a:t>
            </a:r>
          </a:p>
          <a:p>
            <a:pPr>
              <a:defRPr sz="1800">
                <a:latin typeface="Calibri"/>
              </a:defRPr>
            </a:pPr>
            <a:r>
              <a:t>• Grafana (visualization)</a:t>
            </a:r>
          </a:p>
          <a:p>
            <a:pPr>
              <a:defRPr sz="1800">
                <a:latin typeface="Calibri"/>
              </a:defRPr>
            </a:pPr>
            <a:r>
              <a:t>• Alertmanager (alerting)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Frontend:</a:t>
            </a:r>
          </a:p>
          <a:p>
            <a:pPr>
              <a:defRPr sz="1800">
                <a:latin typeface="Calibri"/>
              </a:defRPr>
            </a:pPr>
            <a:r>
              <a:t>• ASP.NET Razor Pages</a:t>
            </a:r>
          </a:p>
          <a:p>
            <a:pPr>
              <a:defRPr sz="1800">
                <a:latin typeface="Calibri"/>
              </a:defRPr>
            </a:pPr>
            <a:r>
              <a:t>• Bootstrap 5</a:t>
            </a:r>
          </a:p>
          <a:p>
            <a:pPr>
              <a:defRPr sz="1800">
                <a:latin typeface="Calibri"/>
              </a:defRPr>
            </a:pPr>
            <a:r>
              <a:t>• JavaScript (interactive UI)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1. Upload - User uploads JSONL file</a:t>
            </a:r>
          </a:p>
          <a:p>
            <a:pPr>
              <a:defRPr sz="1800">
                <a:latin typeface="Calibri"/>
              </a:defRPr>
            </a:pPr>
            <a:r>
              <a:t>2. Create Batch - Batch created with priority level</a:t>
            </a:r>
          </a:p>
          <a:p>
            <a:pPr>
              <a:defRPr sz="1800">
                <a:latin typeface="Calibri"/>
              </a:defRPr>
            </a:pPr>
            <a:r>
              <a:t>3. Deduplication - Check for duplicate inputs</a:t>
            </a:r>
          </a:p>
          <a:p>
            <a:pPr>
              <a:defRPr sz="1800">
                <a:latin typeface="Calibri"/>
              </a:defRPr>
            </a:pPr>
            <a:r>
              <a:t>4. Queue - Requests queued in PostgreSQL</a:t>
            </a:r>
          </a:p>
          <a:p>
            <a:pPr>
              <a:defRPr sz="1800">
                <a:latin typeface="Calibri"/>
              </a:defRPr>
            </a:pPr>
            <a:r>
              <a:t>5. Dequeue - Workers pull requests (priority-ordered)</a:t>
            </a:r>
          </a:p>
          <a:p>
            <a:pPr>
              <a:defRPr sz="1800">
                <a:latin typeface="Calibri"/>
              </a:defRPr>
            </a:pPr>
            <a:r>
              <a:t>6. Process - GPU workers execute inference</a:t>
            </a:r>
          </a:p>
          <a:p>
            <a:pPr>
              <a:defRPr sz="1800">
                <a:latin typeface="Calibri"/>
              </a:defRPr>
            </a:pPr>
            <a:r>
              <a:t>7. Complete - Results stored, batch finalized</a:t>
            </a:r>
          </a:p>
          <a:p>
            <a:pPr>
              <a:defRPr sz="1800">
                <a:latin typeface="Calibri"/>
              </a:defRPr>
            </a:pPr>
            <a:r>
              <a:t>8. Download - User retrieves output file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States: Queued → Running → Completed/Failed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Priority-Based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How It Works:</a:t>
            </a:r>
          </a:p>
          <a:p>
            <a:pPr>
              <a:defRPr sz="1800">
                <a:latin typeface="Calibri"/>
              </a:defRPr>
            </a:pPr>
            <a:r>
              <a:t>• Workers dequeue requests ordered by:</a:t>
            </a:r>
          </a:p>
          <a:p>
            <a:pPr>
              <a:defRPr sz="1800">
                <a:latin typeface="Calibri"/>
              </a:defRPr>
            </a:pPr>
            <a:r>
              <a:t>  1. Batch Priority (highest first: 10+ → 5 → 1)</a:t>
            </a:r>
          </a:p>
          <a:p>
            <a:pPr>
              <a:defRPr sz="1800">
                <a:latin typeface="Calibri"/>
              </a:defRPr>
            </a:pPr>
            <a:r>
              <a:t>  2. Creation Time (oldest first within same priority)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Benefits:</a:t>
            </a:r>
          </a:p>
          <a:p>
            <a:pPr>
              <a:defRPr sz="1800">
                <a:latin typeface="Calibri"/>
              </a:defRPr>
            </a:pPr>
            <a:r>
              <a:t>• Critical workloads processed first</a:t>
            </a:r>
          </a:p>
          <a:p>
            <a:pPr>
              <a:defRPr sz="1800">
                <a:latin typeface="Calibri"/>
              </a:defRPr>
            </a:pPr>
            <a:r>
              <a:t>• Fair processing within priority levels</a:t>
            </a:r>
          </a:p>
          <a:p>
            <a:pPr>
              <a:defRPr sz="1800">
                <a:latin typeface="Calibri"/>
              </a:defRPr>
            </a:pPr>
            <a:r>
              <a:t>• Independent of GPU pool selection</a:t>
            </a:r>
          </a:p>
          <a:p>
            <a:pPr>
              <a:defRPr sz="1800">
                <a:latin typeface="Calibri"/>
              </a:defRPr>
            </a:pPr>
            <a:r>
              <a:t>• Cost optimization maintained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Example:</a:t>
            </a:r>
          </a:p>
          <a:p>
            <a:pPr>
              <a:defRPr sz="1800">
                <a:latin typeface="Calibri"/>
              </a:defRPr>
            </a:pPr>
            <a:r>
              <a:t>• Priority 10 batch (5 min old) → Processed first</a:t>
            </a:r>
          </a:p>
          <a:p>
            <a:pPr>
              <a:defRPr sz="1800">
                <a:latin typeface="Calibri"/>
              </a:defRPr>
            </a:pPr>
            <a:r>
              <a:t>• Priority 1 batch (1 hour old) → Processed after high-priority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SLA-Aware Escalation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Default Strategy:</a:t>
            </a:r>
          </a:p>
          <a:p>
            <a:pPr>
              <a:defRPr sz="1800">
                <a:latin typeface="Calibri"/>
              </a:defRPr>
            </a:pPr>
            <a:r>
              <a:t>• All requests start on spot workers (lower cost)</a:t>
            </a:r>
          </a:p>
          <a:p>
            <a:pPr>
              <a:defRPr sz="1800">
                <a:latin typeface="Calibri"/>
              </a:defRPr>
            </a:pPr>
            <a:r>
              <a:t>• Monitor SLA deadline approaching</a:t>
            </a:r>
          </a:p>
          <a:p>
            <a:pPr>
              <a:defRPr sz="1800">
                <a:latin typeface="Calibri"/>
              </a:defRPr>
            </a:pPr>
            <a:r>
              <a:t>• Automatically escalate to dedicated workers when needed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Escalation Triggers:</a:t>
            </a:r>
          </a:p>
          <a:p>
            <a:pPr>
              <a:defRPr sz="1800">
                <a:latin typeface="Calibri"/>
              </a:defRPr>
            </a:pPr>
            <a:r>
              <a:t>• Approaching completion deadline</a:t>
            </a:r>
          </a:p>
          <a:p>
            <a:pPr>
              <a:defRPr sz="1800">
                <a:latin typeface="Calibri"/>
              </a:defRPr>
            </a:pPr>
            <a:r>
              <a:t>• Spot worker interruptions</a:t>
            </a:r>
          </a:p>
          <a:p>
            <a:pPr>
              <a:defRPr sz="1800">
                <a:latin typeface="Calibri"/>
              </a:defRPr>
            </a:pPr>
            <a:r>
              <a:t>• Retry after failure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Result:</a:t>
            </a:r>
          </a:p>
          <a:p>
            <a:pPr>
              <a:defRPr sz="1800">
                <a:latin typeface="Calibri"/>
              </a:defRPr>
            </a:pPr>
            <a:r>
              <a:t>• Maximum cost savings (spot instances)</a:t>
            </a:r>
          </a:p>
          <a:p>
            <a:pPr>
              <a:defRPr sz="1800">
                <a:latin typeface="Calibri"/>
              </a:defRPr>
            </a:pPr>
            <a:r>
              <a:t>• SLA compliance guaranteed</a:t>
            </a:r>
          </a:p>
          <a:p>
            <a:pPr>
              <a:defRPr sz="1800">
                <a:latin typeface="Calibri"/>
              </a:defRPr>
            </a:pPr>
            <a:r>
              <a:t>• Automatic failover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Deduplication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How It Works:</a:t>
            </a:r>
          </a:p>
          <a:p>
            <a:pPr>
              <a:defRPr sz="1800">
                <a:latin typeface="Calibri"/>
              </a:defRPr>
            </a:pPr>
            <a:r>
              <a:t>1. Compute SHA256 hash of normalized input payload</a:t>
            </a:r>
          </a:p>
          <a:p>
            <a:pPr>
              <a:defRPr sz="1800">
                <a:latin typeface="Calibri"/>
              </a:defRPr>
            </a:pPr>
            <a:r>
              <a:t>2. Query database for completed requests with same hash</a:t>
            </a:r>
          </a:p>
          <a:p>
            <a:pPr>
              <a:defRPr sz="1800">
                <a:latin typeface="Calibri"/>
              </a:defRPr>
            </a:pPr>
            <a:r>
              <a:t>3. If duplicate found:</a:t>
            </a:r>
          </a:p>
          <a:p>
            <a:pPr>
              <a:defRPr sz="1800">
                <a:latin typeface="Calibri"/>
              </a:defRPr>
            </a:pPr>
            <a:r>
              <a:t>   • Copy output from original request</a:t>
            </a:r>
          </a:p>
          <a:p>
            <a:pPr>
              <a:defRPr sz="1800">
                <a:latin typeface="Calibri"/>
              </a:defRPr>
            </a:pPr>
            <a:r>
              <a:t>   • Mark as deduplicated</a:t>
            </a:r>
          </a:p>
          <a:p>
            <a:pPr>
              <a:defRPr sz="1800">
                <a:latin typeface="Calibri"/>
              </a:defRPr>
            </a:pPr>
            <a:r>
              <a:t>   • Complete immediately (no worker processing)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Benefits:</a:t>
            </a:r>
          </a:p>
          <a:p>
            <a:pPr>
              <a:defRPr sz="1800">
                <a:latin typeface="Calibri"/>
              </a:defRPr>
            </a:pPr>
            <a:r>
              <a:t>• Cost Savings - No redundant GPU processing</a:t>
            </a:r>
          </a:p>
          <a:p>
            <a:pPr>
              <a:defRPr sz="1800">
                <a:latin typeface="Calibri"/>
              </a:defRPr>
            </a:pPr>
            <a:r>
              <a:t>• Time Savings - Instant completion for duplicates</a:t>
            </a:r>
          </a:p>
          <a:p>
            <a:pPr>
              <a:defRPr sz="1800">
                <a:latin typeface="Calibri"/>
              </a:defRPr>
            </a:pPr>
            <a:r>
              <a:t>• Configurable Scope - Global or per-user deduplication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Example:</a:t>
            </a:r>
          </a:p>
          <a:p>
            <a:pPr>
              <a:defRPr sz="1800">
                <a:latin typeface="Calibri"/>
              </a:defRPr>
            </a:pPr>
            <a:r>
              <a:t>• 1000 requests, 200 duplicates → Only 800 processed</a:t>
            </a:r>
          </a:p>
          <a:p>
            <a:pPr>
              <a:defRPr sz="1800">
                <a:latin typeface="Calibri"/>
              </a:defRPr>
            </a:pPr>
            <a:r>
              <a:t>• 20% cost reduction + faster completion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Database-Backed Queue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Why PostgreSQL?</a:t>
            </a:r>
          </a:p>
          <a:p>
            <a:pPr>
              <a:defRPr sz="1800">
                <a:latin typeface="Calibri"/>
              </a:defRPr>
            </a:pPr>
            <a:r>
              <a:t>• No separate message broker needed</a:t>
            </a:r>
          </a:p>
          <a:p>
            <a:pPr>
              <a:defRPr sz="1800">
                <a:latin typeface="Calibri"/>
              </a:defRPr>
            </a:pPr>
            <a:r>
              <a:t>• ACID transactions for reliability</a:t>
            </a:r>
          </a:p>
          <a:p>
            <a:pPr>
              <a:defRPr sz="1800">
                <a:latin typeface="Calibri"/>
              </a:defRPr>
            </a:pPr>
            <a:r>
              <a:t>• FOR UPDATE SKIP LOCKED for safe concurrent dequeue</a:t>
            </a:r>
          </a:p>
          <a:p>
            <a:pPr>
              <a:defRPr sz="1800">
                <a:latin typeface="Calibri"/>
              </a:defRPr>
            </a:pPr>
            <a:r>
              <a:t>• Persistent storage for all metadata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Queue Semantics:</a:t>
            </a:r>
          </a:p>
          <a:p>
            <a:pPr>
              <a:defRPr sz="1800">
                <a:latin typeface="Calibri"/>
              </a:defRPr>
            </a:pPr>
            <a:r>
              <a:t>• Atomic dequeue (transaction-based)</a:t>
            </a:r>
          </a:p>
          <a:p>
            <a:pPr>
              <a:defRPr sz="1800">
                <a:latin typeface="Calibri"/>
              </a:defRPr>
            </a:pPr>
            <a:r>
              <a:t>• No double-processing</a:t>
            </a:r>
          </a:p>
          <a:p>
            <a:pPr>
              <a:defRPr sz="1800">
                <a:latin typeface="Calibri"/>
              </a:defRPr>
            </a:pPr>
            <a:r>
              <a:t>• Priority ordering at database level</a:t>
            </a:r>
          </a:p>
          <a:p>
            <a:pPr>
              <a:defRPr sz="1800">
                <a:latin typeface="Calibri"/>
              </a:defRPr>
            </a:pPr>
            <a:r>
              <a:t>• Automatic retry on failure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Benefits:</a:t>
            </a:r>
          </a:p>
          <a:p>
            <a:pPr>
              <a:defRPr sz="1800">
                <a:latin typeface="Calibri"/>
              </a:defRPr>
            </a:pPr>
            <a:r>
              <a:t>• Simpler architecture</a:t>
            </a:r>
          </a:p>
          <a:p>
            <a:pPr>
              <a:defRPr sz="1800">
                <a:latin typeface="Calibri"/>
              </a:defRPr>
            </a:pPr>
            <a:r>
              <a:t>• Built-in persistence</a:t>
            </a:r>
          </a:p>
          <a:p>
            <a:pPr>
              <a:defRPr sz="1800">
                <a:latin typeface="Calibri"/>
              </a:defRPr>
            </a:pPr>
            <a:r>
              <a:t>• Strong consistency guarantees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Portal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Dashboard:</a:t>
            </a:r>
          </a:p>
          <a:p>
            <a:pPr>
              <a:defRPr sz="1800">
                <a:latin typeface="Calibri"/>
              </a:defRPr>
            </a:pPr>
            <a:r>
              <a:t>• Real-time statistics</a:t>
            </a:r>
          </a:p>
          <a:p>
            <a:pPr>
              <a:defRPr sz="1800">
                <a:latin typeface="Calibri"/>
              </a:defRPr>
            </a:pPr>
            <a:r>
              <a:t>• Recent batches overview</a:t>
            </a:r>
          </a:p>
          <a:p>
            <a:pPr>
              <a:defRPr sz="1800">
                <a:latin typeface="Calibri"/>
              </a:defRPr>
            </a:pPr>
            <a:r>
              <a:t>• System health indicators</a:t>
            </a:r>
          </a:p>
          <a:p>
            <a:pPr>
              <a:defRPr sz="1800">
                <a:latin typeface="Calibri"/>
              </a:defRPr>
            </a:pPr>
            <a:r>
              <a:t>• Quick actions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Batch Management:</a:t>
            </a:r>
          </a:p>
          <a:p>
            <a:pPr>
              <a:defRPr sz="1800">
                <a:latin typeface="Calibri"/>
              </a:defRPr>
            </a:pPr>
            <a:r>
              <a:t>• Create batches with file upload</a:t>
            </a:r>
          </a:p>
          <a:p>
            <a:pPr>
              <a:defRPr sz="1800">
                <a:latin typeface="Calibri"/>
              </a:defRPr>
            </a:pPr>
            <a:r>
              <a:t>• Priority selection</a:t>
            </a:r>
          </a:p>
          <a:p>
            <a:pPr>
              <a:defRPr sz="1800">
                <a:latin typeface="Calibri"/>
              </a:defRPr>
            </a:pPr>
            <a:r>
              <a:t>• Filter, sort, and paginate</a:t>
            </a:r>
          </a:p>
          <a:p>
            <a:pPr>
              <a:defRPr sz="1800">
                <a:latin typeface="Calibri"/>
              </a:defRPr>
            </a:pPr>
            <a:r>
              <a:t>• Cancel running batches</a:t>
            </a:r>
          </a:p>
          <a:p>
            <a:pPr>
              <a:defRPr sz="1800">
                <a:latin typeface="Calibri"/>
              </a:defRPr>
            </a:pPr>
            <a:r>
              <a:t>• Clone existing batches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Batch Details:</a:t>
            </a:r>
          </a:p>
          <a:p>
            <a:pPr>
              <a:defRPr sz="1800">
                <a:latin typeface="Calibri"/>
              </a:defRPr>
            </a:pPr>
            <a:r>
              <a:t>• Visual progress tracking</a:t>
            </a:r>
          </a:p>
          <a:p>
            <a:pPr>
              <a:defRPr sz="1800">
                <a:latin typeface="Calibri"/>
              </a:defRPr>
            </a:pPr>
            <a:r>
              <a:t>• Request-level details</a:t>
            </a:r>
          </a:p>
          <a:p>
            <a:pPr>
              <a:defRPr sz="1800">
                <a:latin typeface="Calibri"/>
              </a:defRPr>
            </a:pPr>
            <a:r>
              <a:t>• Timeline visualization</a:t>
            </a:r>
          </a:p>
          <a:p>
            <a:pPr>
              <a:defRPr sz="1800">
                <a:latin typeface="Calibri"/>
              </a:defRPr>
            </a:pPr>
            <a:r>
              <a:t>• Output download/preview</a:t>
            </a:r>
          </a:p>
          <a:p>
            <a:pPr>
              <a:defRPr sz="1800">
                <a:latin typeface="Calibri"/>
              </a:defRPr>
            </a:pPr>
            <a:r>
              <a:t>• Error display with copy functionality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Prometheus Metrics:</a:t>
            </a:r>
          </a:p>
          <a:p>
            <a:pPr>
              <a:defRPr sz="1800">
                <a:latin typeface="Calibri"/>
              </a:defRPr>
            </a:pPr>
            <a:r>
              <a:t>• Batch creation/completion rates</a:t>
            </a:r>
          </a:p>
          <a:p>
            <a:pPr>
              <a:defRPr sz="1800">
                <a:latin typeface="Calibri"/>
              </a:defRPr>
            </a:pPr>
            <a:r>
              <a:t>• Request processing times</a:t>
            </a:r>
          </a:p>
          <a:p>
            <a:pPr>
              <a:defRPr sz="1800">
                <a:latin typeface="Calibri"/>
              </a:defRPr>
            </a:pPr>
            <a:r>
              <a:t>• Worker pool utilization</a:t>
            </a:r>
          </a:p>
          <a:p>
            <a:pPr>
              <a:defRPr sz="1800">
                <a:latin typeface="Calibri"/>
              </a:defRPr>
            </a:pPr>
            <a:r>
              <a:t>• SLA breach tracking</a:t>
            </a:r>
          </a:p>
          <a:p>
            <a:pPr>
              <a:defRPr sz="1800">
                <a:latin typeface="Calibri"/>
              </a:defRPr>
            </a:pPr>
            <a:r>
              <a:t>• Deduplication statistics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Grafana Dashboards:</a:t>
            </a:r>
          </a:p>
          <a:p>
            <a:pPr>
              <a:defRPr sz="1800">
                <a:latin typeface="Calibri"/>
              </a:defRPr>
            </a:pPr>
            <a:r>
              <a:t>• Real-time system health</a:t>
            </a:r>
          </a:p>
          <a:p>
            <a:pPr>
              <a:defRPr sz="1800">
                <a:latin typeface="Calibri"/>
              </a:defRPr>
            </a:pPr>
            <a:r>
              <a:t>• Performance trends</a:t>
            </a:r>
          </a:p>
          <a:p>
            <a:pPr>
              <a:defRPr sz="1800">
                <a:latin typeface="Calibri"/>
              </a:defRPr>
            </a:pPr>
            <a:r>
              <a:t>• Cost optimization metrics</a:t>
            </a:r>
          </a:p>
          <a:p>
            <a:pPr>
              <a:defRPr sz="1800">
                <a:latin typeface="Calibri"/>
              </a:defRPr>
            </a:pPr>
            <a:r>
              <a:t>• SLA compliance tracking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Alertmanager:</a:t>
            </a:r>
          </a:p>
          <a:p>
            <a:pPr>
              <a:defRPr sz="1800">
                <a:latin typeface="Calibri"/>
              </a:defRPr>
            </a:pPr>
            <a:r>
              <a:t>• SLA breach alerts</a:t>
            </a:r>
          </a:p>
          <a:p>
            <a:pPr>
              <a:defRPr sz="1800">
                <a:latin typeface="Calibri"/>
              </a:defRPr>
            </a:pPr>
            <a:r>
              <a:t>• System health notifications</a:t>
            </a:r>
          </a:p>
          <a:p>
            <a:pPr>
              <a:defRPr sz="1800">
                <a:latin typeface="Calibri"/>
              </a:defRPr>
            </a:pPr>
            <a:r>
              <a:t>• Worker pool capacity warnings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1. Production-Ready Architecture</a:t>
            </a:r>
          </a:p>
          <a:p>
            <a:pPr>
              <a:defRPr sz="1800">
                <a:latin typeface="Calibri"/>
              </a:defRPr>
            </a:pPr>
            <a:r>
              <a:t>   • Kubernetes-native</a:t>
            </a:r>
          </a:p>
          <a:p>
            <a:pPr>
              <a:defRPr sz="1800">
                <a:latin typeface="Calibri"/>
              </a:defRPr>
            </a:pPr>
            <a:r>
              <a:t>   • Scalable and resilient</a:t>
            </a:r>
          </a:p>
          <a:p>
            <a:pPr>
              <a:defRPr sz="1800">
                <a:latin typeface="Calibri"/>
              </a:defRPr>
            </a:pPr>
            <a:r>
              <a:t>   • Full observability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2. Cost Optimization</a:t>
            </a:r>
          </a:p>
          <a:p>
            <a:pPr>
              <a:defRPr sz="1800">
                <a:latin typeface="Calibri"/>
              </a:defRPr>
            </a:pPr>
            <a:r>
              <a:t>   • Spot instance utilization</a:t>
            </a:r>
          </a:p>
          <a:p>
            <a:pPr>
              <a:defRPr sz="1800">
                <a:latin typeface="Calibri"/>
              </a:defRPr>
            </a:pPr>
            <a:r>
              <a:t>   • Request deduplication</a:t>
            </a:r>
          </a:p>
          <a:p>
            <a:pPr>
              <a:defRPr sz="1800">
                <a:latin typeface="Calibri"/>
              </a:defRPr>
            </a:pPr>
            <a:r>
              <a:t>   • Smart escalation only when needed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3. Priority &amp; SLA Management</a:t>
            </a:r>
          </a:p>
          <a:p>
            <a:pPr>
              <a:defRPr sz="1800">
                <a:latin typeface="Calibri"/>
              </a:defRPr>
            </a:pPr>
            <a:r>
              <a:t>   • Multi-level priority system</a:t>
            </a:r>
          </a:p>
          <a:p>
            <a:pPr>
              <a:defRPr sz="1800">
                <a:latin typeface="Calibri"/>
              </a:defRPr>
            </a:pPr>
            <a:r>
              <a:t>   • Automatic deadline tracking</a:t>
            </a:r>
          </a:p>
          <a:p>
            <a:pPr>
              <a:defRPr sz="1800">
                <a:latin typeface="Calibri"/>
              </a:defRPr>
            </a:pPr>
            <a:r>
              <a:t>   • Guaranteed SLA compliance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4. Developer Experience</a:t>
            </a:r>
          </a:p>
          <a:p>
            <a:pPr>
              <a:defRPr sz="1800">
                <a:latin typeface="Calibri"/>
              </a:defRPr>
            </a:pPr>
            <a:r>
              <a:t>   • Clean API design</a:t>
            </a:r>
          </a:p>
          <a:p>
            <a:pPr>
              <a:defRPr sz="1800">
                <a:latin typeface="Calibri"/>
              </a:defRPr>
            </a:pPr>
            <a:r>
              <a:t>   • Comprehensive documentation</a:t>
            </a:r>
          </a:p>
          <a:p>
            <a:pPr>
              <a:defRPr sz="1800">
                <a:latin typeface="Calibri"/>
              </a:defRPr>
            </a:pPr>
            <a:r>
              <a:t>   • Easy local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AI/ML Batch Processing:</a:t>
            </a:r>
          </a:p>
          <a:p>
            <a:pPr>
              <a:defRPr sz="1800">
                <a:latin typeface="Calibri"/>
              </a:defRPr>
            </a:pPr>
            <a:r>
              <a:t>• Large-scale model inference</a:t>
            </a:r>
          </a:p>
          <a:p>
            <a:pPr>
              <a:defRPr sz="1800">
                <a:latin typeface="Calibri"/>
              </a:defRPr>
            </a:pPr>
            <a:r>
              <a:t>• Batch predictions</a:t>
            </a:r>
          </a:p>
          <a:p>
            <a:pPr>
              <a:defRPr sz="1800">
                <a:latin typeface="Calibri"/>
              </a:defRPr>
            </a:pPr>
            <a:r>
              <a:t>• Data transformation pipelines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Cost-Sensitive Workloads:</a:t>
            </a:r>
          </a:p>
          <a:p>
            <a:pPr>
              <a:defRPr sz="1800">
                <a:latin typeface="Calibri"/>
              </a:defRPr>
            </a:pPr>
            <a:r>
              <a:t>• Organizations needing spot instance savings</a:t>
            </a:r>
          </a:p>
          <a:p>
            <a:pPr>
              <a:defRPr sz="1800">
                <a:latin typeface="Calibri"/>
              </a:defRPr>
            </a:pPr>
            <a:r>
              <a:t>• Variable processing requirements</a:t>
            </a:r>
          </a:p>
          <a:p>
            <a:pPr>
              <a:defRPr sz="1800">
                <a:latin typeface="Calibri"/>
              </a:defRPr>
            </a:pPr>
            <a:r>
              <a:t>• Budget-conscious deployments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Priority-Based Processing:</a:t>
            </a:r>
          </a:p>
          <a:p>
            <a:pPr>
              <a:defRPr sz="1800">
                <a:latin typeface="Calibri"/>
              </a:defRPr>
            </a:pPr>
            <a:r>
              <a:t>• Mixed criticality workloads</a:t>
            </a:r>
          </a:p>
          <a:p>
            <a:pPr>
              <a:defRPr sz="1800">
                <a:latin typeface="Calibri"/>
              </a:defRPr>
            </a:pPr>
            <a:r>
              <a:t>• Time-sensitive batch jobs</a:t>
            </a:r>
          </a:p>
          <a:p>
            <a:pPr>
              <a:defRPr sz="1800">
                <a:latin typeface="Calibri"/>
              </a:defRPr>
            </a:pPr>
            <a:r>
              <a:t>• SLA-bound operations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Deduplication Benefits:</a:t>
            </a:r>
          </a:p>
          <a:p>
            <a:pPr>
              <a:defRPr sz="1800">
                <a:latin typeface="Calibri"/>
              </a:defRPr>
            </a:pPr>
            <a:r>
              <a:t>• Repeated processing of similar inputs</a:t>
            </a:r>
          </a:p>
          <a:p>
            <a:pPr>
              <a:defRPr sz="1800">
                <a:latin typeface="Calibri"/>
              </a:defRPr>
            </a:pPr>
            <a:r>
              <a:t>• Caching frequently used queries</a:t>
            </a:r>
          </a:p>
          <a:p>
            <a:pPr>
              <a:defRPr sz="1800">
                <a:latin typeface="Calibri"/>
              </a:defRPr>
            </a:pPr>
            <a:r>
              <a:t>• Cost reduction for common patterns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Scalability:</a:t>
            </a:r>
          </a:p>
          <a:p>
            <a:pPr>
              <a:defRPr sz="1800">
                <a:latin typeface="Calibri"/>
              </a:defRPr>
            </a:pPr>
            <a:r>
              <a:t>• Horizontal scaling of workers</a:t>
            </a:r>
          </a:p>
          <a:p>
            <a:pPr>
              <a:defRPr sz="1800">
                <a:latin typeface="Calibri"/>
              </a:defRPr>
            </a:pPr>
            <a:r>
              <a:t>• Database-backed queue handles high throughput</a:t>
            </a:r>
          </a:p>
          <a:p>
            <a:pPr>
              <a:defRPr sz="1800">
                <a:latin typeface="Calibri"/>
              </a:defRPr>
            </a:pPr>
            <a:r>
              <a:t>• Kubernetes auto-scaling support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Reliability:</a:t>
            </a:r>
          </a:p>
          <a:p>
            <a:pPr>
              <a:defRPr sz="1800">
                <a:latin typeface="Calibri"/>
              </a:defRPr>
            </a:pPr>
            <a:r>
              <a:t>• ACID transactions</a:t>
            </a:r>
          </a:p>
          <a:p>
            <a:pPr>
              <a:defRPr sz="1800">
                <a:latin typeface="Calibri"/>
              </a:defRPr>
            </a:pPr>
            <a:r>
              <a:t>• Automatic retry on failures</a:t>
            </a:r>
          </a:p>
          <a:p>
            <a:pPr>
              <a:defRPr sz="1800">
                <a:latin typeface="Calibri"/>
              </a:defRPr>
            </a:pPr>
            <a:r>
              <a:t>• Spot interruption handling</a:t>
            </a:r>
          </a:p>
          <a:p>
            <a:pPr>
              <a:defRPr sz="1800">
                <a:latin typeface="Calibri"/>
              </a:defRPr>
            </a:pPr>
            <a:r>
              <a:t>• Dead-letter queue support (future)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Performance:</a:t>
            </a:r>
          </a:p>
          <a:p>
            <a:pPr>
              <a:defRPr sz="1800">
                <a:latin typeface="Calibri"/>
              </a:defRPr>
            </a:pPr>
            <a:r>
              <a:t>• Priority-ordered processing</a:t>
            </a:r>
          </a:p>
          <a:p>
            <a:pPr>
              <a:defRPr sz="1800">
                <a:latin typeface="Calibri"/>
              </a:defRPr>
            </a:pPr>
            <a:r>
              <a:t>• Efficient deduplication (indexed lookups)</a:t>
            </a:r>
          </a:p>
          <a:p>
            <a:pPr>
              <a:defRPr sz="1800">
                <a:latin typeface="Calibri"/>
              </a:defRPr>
            </a:pPr>
            <a:r>
              <a:t>• Concurrent worker processing</a:t>
            </a:r>
          </a:p>
          <a:p>
            <a:pPr>
              <a:defRPr sz="1800">
                <a:latin typeface="Calibri"/>
              </a:defRPr>
            </a:pPr>
            <a:r>
              <a:t>• Minimal overhead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Multi-Tenancy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Current:</a:t>
            </a:r>
          </a:p>
          <a:p>
            <a:pPr>
              <a:defRPr sz="1800">
                <a:latin typeface="Calibri"/>
              </a:defRPr>
            </a:pPr>
            <a:r>
              <a:t>• User ID-based isolation</a:t>
            </a:r>
          </a:p>
          <a:p>
            <a:pPr>
              <a:defRPr sz="1800">
                <a:latin typeface="Calibri"/>
              </a:defRPr>
            </a:pPr>
            <a:r>
              <a:t>• File-level access control</a:t>
            </a:r>
          </a:p>
          <a:p>
            <a:pPr>
              <a:defRPr sz="1800">
                <a:latin typeface="Calibri"/>
              </a:defRPr>
            </a:pPr>
            <a:r>
              <a:t>• API authentication via headers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Future Enhancements:</a:t>
            </a:r>
          </a:p>
          <a:p>
            <a:pPr>
              <a:defRPr sz="1800">
                <a:latin typeface="Calibri"/>
              </a:defRPr>
            </a:pPr>
            <a:r>
              <a:t>• OAuth2/OIDC integration</a:t>
            </a:r>
          </a:p>
          <a:p>
            <a:pPr>
              <a:defRPr sz="1800">
                <a:latin typeface="Calibri"/>
              </a:defRPr>
            </a:pPr>
            <a:r>
              <a:t>• JWT-based authentication</a:t>
            </a:r>
          </a:p>
          <a:p>
            <a:pPr>
              <a:defRPr sz="1800">
                <a:latin typeface="Calibri"/>
              </a:defRPr>
            </a:pPr>
            <a:r>
              <a:t>• Row-level security per tenant</a:t>
            </a:r>
          </a:p>
          <a:p>
            <a:pPr>
              <a:defRPr sz="1800">
                <a:latin typeface="Calibri"/>
              </a:defRPr>
            </a:pPr>
            <a:r>
              <a:t>• Audit logging</a:t>
            </a:r>
          </a:p>
          <a:p>
            <a:pPr>
              <a:defRPr sz="1800">
                <a:latin typeface="Calibri"/>
              </a:defRPr>
            </a:pPr>
            <a:r>
              <a:t>• RBAC (Role-Based Access Control)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Local Development:</a:t>
            </a:r>
          </a:p>
          <a:p>
            <a:pPr>
              <a:defRPr sz="1800">
                <a:latin typeface="Calibri"/>
              </a:defRPr>
            </a:pPr>
            <a:r>
              <a:t>• Docker Desktop with Kubernetes</a:t>
            </a:r>
          </a:p>
          <a:p>
            <a:pPr>
              <a:defRPr sz="1800">
                <a:latin typeface="Calibri"/>
              </a:defRPr>
            </a:pPr>
            <a:r>
              <a:t>• Local PostgreSQL</a:t>
            </a:r>
          </a:p>
          <a:p>
            <a:pPr>
              <a:defRPr sz="1800">
                <a:latin typeface="Calibri"/>
              </a:defRPr>
            </a:pPr>
            <a:r>
              <a:t>• Full feature parity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Kubernetes:</a:t>
            </a:r>
          </a:p>
          <a:p>
            <a:pPr>
              <a:defRPr sz="1800">
                <a:latin typeface="Calibri"/>
              </a:defRPr>
            </a:pPr>
            <a:r>
              <a:t>• Production-ready deployment</a:t>
            </a:r>
          </a:p>
          <a:p>
            <a:pPr>
              <a:defRPr sz="1800">
                <a:latin typeface="Calibri"/>
              </a:defRPr>
            </a:pPr>
            <a:r>
              <a:t>• Helm charts available</a:t>
            </a:r>
          </a:p>
          <a:p>
            <a:pPr>
              <a:defRPr sz="1800">
                <a:latin typeface="Calibri"/>
              </a:defRPr>
            </a:pPr>
            <a:r>
              <a:t>• Monitoring stack included</a:t>
            </a:r>
          </a:p>
          <a:p>
            <a:pPr>
              <a:defRPr sz="1800">
                <a:latin typeface="Calibri"/>
              </a:defRPr>
            </a:pPr>
            <a:r>
              <a:t>• Persistent volumes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Cloud Ready:</a:t>
            </a:r>
          </a:p>
          <a:p>
            <a:pPr>
              <a:defRPr sz="1800">
                <a:latin typeface="Calibri"/>
              </a:defRPr>
            </a:pPr>
            <a:r>
              <a:t>• AWS EKS</a:t>
            </a:r>
          </a:p>
          <a:p>
            <a:pPr>
              <a:defRPr sz="1800">
                <a:latin typeface="Calibri"/>
              </a:defRPr>
            </a:pPr>
            <a:r>
              <a:t>• Azure AKS</a:t>
            </a:r>
          </a:p>
          <a:p>
            <a:pPr>
              <a:defRPr sz="1800">
                <a:latin typeface="Calibri"/>
              </a:defRPr>
            </a:pPr>
            <a:r>
              <a:t>• Google GKE</a:t>
            </a:r>
          </a:p>
          <a:p>
            <a:pPr>
              <a:defRPr sz="1800">
                <a:latin typeface="Calibri"/>
              </a:defRPr>
            </a:pPr>
            <a:r>
              <a:t>• Any Kubernetes cluster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API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urier New"/>
              </a:defRPr>
            </a:pPr>
            <a:r>
              <a:t>Upload File:</a:t>
            </a:r>
          </a:p>
          <a:p>
            <a:pPr>
              <a:defRPr sz="1200">
                <a:latin typeface="Courier New"/>
              </a:defRPr>
            </a:pPr>
            <a:r>
              <a:t>POST /v1/files</a:t>
            </a:r>
          </a:p>
          <a:p>
            <a:pPr>
              <a:defRPr sz="1200">
                <a:latin typeface="Courier New"/>
              </a:defRPr>
            </a:pPr>
            <a:r>
              <a:t>Content-Type: multipart/form-data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Create Batch:</a:t>
            </a:r>
          </a:p>
          <a:p>
            <a:pPr>
              <a:defRPr sz="1200">
                <a:latin typeface="Courier New"/>
              </a:defRPr>
            </a:pPr>
            <a:r>
              <a:t>POST /v1/batches</a:t>
            </a:r>
          </a:p>
          <a:p>
            <a:pPr>
              <a:defRPr sz="1200">
                <a:latin typeface="Courier New"/>
              </a:defRPr>
            </a:pPr>
            <a:r>
              <a:t>{</a:t>
            </a:r>
          </a:p>
          <a:p>
            <a:pPr>
              <a:defRPr sz="1200">
                <a:latin typeface="Courier New"/>
              </a:defRPr>
            </a:pPr>
            <a:r>
              <a:t>  "inputFileId": "...",</a:t>
            </a:r>
          </a:p>
          <a:p>
            <a:pPr>
              <a:defRPr sz="1200">
                <a:latin typeface="Courier New"/>
              </a:defRPr>
            </a:pPr>
            <a:r>
              <a:t>  "metadata": {"priority": "10"}</a:t>
            </a:r>
          </a:p>
          <a:p>
            <a:pPr>
              <a:defRPr sz="1200">
                <a:latin typeface="Courier New"/>
              </a:defRPr>
            </a:pPr>
            <a:r>
              <a:t>}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Get Batch Status:</a:t>
            </a:r>
          </a:p>
          <a:p>
            <a:pPr>
              <a:defRPr sz="1200">
                <a:latin typeface="Courier New"/>
              </a:defRPr>
            </a:pPr>
            <a:r>
              <a:t>GET /v1/batches/{id}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Cancel Batch:</a:t>
            </a:r>
          </a:p>
          <a:p>
            <a:pPr>
              <a:defRPr sz="1200">
                <a:latin typeface="Courier New"/>
              </a:defRPr>
            </a:pPr>
            <a:r>
              <a:t>POST /v1/batches/{id}/cancel</a:t>
            </a:r>
          </a:p>
          <a:p>
            <a:pPr>
              <a:defRPr sz="1200">
                <a:latin typeface="Courier New"/>
              </a:defRPr>
            </a:pPr>
          </a:p>
          <a:p>
            <a:pPr>
              <a:defRPr sz="1200">
                <a:latin typeface="Courier New"/>
              </a:defRPr>
            </a:pPr>
            <a:r>
              <a:t>Retry Request:</a:t>
            </a:r>
          </a:p>
          <a:p>
            <a:pPr>
              <a:defRPr sz="1200">
                <a:latin typeface="Courier New"/>
              </a:defRPr>
            </a:pPr>
            <a:r>
              <a:t>POST /v1/requests/{id}/retry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Unit Tests:</a:t>
            </a:r>
          </a:p>
          <a:p>
            <a:pPr>
              <a:defRPr sz="1800">
                <a:latin typeface="Calibri"/>
              </a:defRPr>
            </a:pPr>
            <a:r>
              <a:t>• View model mapping</a:t>
            </a:r>
          </a:p>
          <a:p>
            <a:pPr>
              <a:defRPr sz="1800">
                <a:latin typeface="Calibri"/>
              </a:defRPr>
            </a:pPr>
            <a:r>
              <a:t>• API client behavior</a:t>
            </a:r>
          </a:p>
          <a:p>
            <a:pPr>
              <a:defRPr sz="1800">
                <a:latin typeface="Calibri"/>
              </a:defRPr>
            </a:pPr>
            <a:r>
              <a:t>• Service logic</a:t>
            </a:r>
          </a:p>
          <a:p>
            <a:pPr>
              <a:defRPr sz="1800">
                <a:latin typeface="Calibri"/>
              </a:defRPr>
            </a:pPr>
            <a:r>
              <a:t>• Schema validation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Integration Tests:</a:t>
            </a:r>
          </a:p>
          <a:p>
            <a:pPr>
              <a:defRPr sz="1800">
                <a:latin typeface="Calibri"/>
              </a:defRPr>
            </a:pPr>
            <a:r>
              <a:t>• End-to-end workflows</a:t>
            </a:r>
          </a:p>
          <a:p>
            <a:pPr>
              <a:defRPr sz="1800">
                <a:latin typeface="Calibri"/>
              </a:defRPr>
            </a:pPr>
            <a:r>
              <a:t>• Database operations</a:t>
            </a:r>
          </a:p>
          <a:p>
            <a:pPr>
              <a:defRPr sz="1800">
                <a:latin typeface="Calibri"/>
              </a:defRPr>
            </a:pPr>
            <a:r>
              <a:t>• Worker dequeue logic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Test Infrastructure:</a:t>
            </a:r>
          </a:p>
          <a:p>
            <a:pPr>
              <a:defRPr sz="1800">
                <a:latin typeface="Calibri"/>
              </a:defRPr>
            </a:pPr>
            <a:r>
              <a:t>• In-memory SQLite for fast tests</a:t>
            </a:r>
          </a:p>
          <a:p>
            <a:pPr>
              <a:defRPr sz="1800">
                <a:latin typeface="Calibri"/>
              </a:defRPr>
            </a:pPr>
            <a:r>
              <a:t>• Mock services for isolation</a:t>
            </a:r>
          </a:p>
          <a:p>
            <a:pPr>
              <a:defRPr sz="1800">
                <a:latin typeface="Calibri"/>
              </a:defRPr>
            </a:pPr>
            <a:r>
              <a:t>• Schema validation tests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Short Term:</a:t>
            </a:r>
          </a:p>
          <a:p>
            <a:pPr>
              <a:defRPr sz="1800">
                <a:latin typeface="Calibri"/>
              </a:defRPr>
            </a:pPr>
            <a:r>
              <a:t>• Dead-letter queue implementation</a:t>
            </a:r>
          </a:p>
          <a:p>
            <a:pPr>
              <a:defRPr sz="1800">
                <a:latin typeface="Calibri"/>
              </a:defRPr>
            </a:pPr>
            <a:r>
              <a:t>• Enhanced retry mechanisms</a:t>
            </a:r>
          </a:p>
          <a:p>
            <a:pPr>
              <a:defRPr sz="1800">
                <a:latin typeface="Calibri"/>
              </a:defRPr>
            </a:pPr>
            <a:r>
              <a:t>• Cloud storage integration (S3/GCS)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Medium Term:</a:t>
            </a:r>
          </a:p>
          <a:p>
            <a:pPr>
              <a:defRPr sz="1800">
                <a:latin typeface="Calibri"/>
              </a:defRPr>
            </a:pPr>
            <a:r>
              <a:t>• Real GPU inference engine</a:t>
            </a:r>
          </a:p>
          <a:p>
            <a:pPr>
              <a:defRPr sz="1800">
                <a:latin typeface="Calibri"/>
              </a:defRPr>
            </a:pPr>
            <a:r>
              <a:t>• Advanced authentication/authorization</a:t>
            </a:r>
          </a:p>
          <a:p>
            <a:pPr>
              <a:defRPr sz="1800">
                <a:latin typeface="Calibri"/>
              </a:defRPr>
            </a:pPr>
            <a:r>
              <a:t>• Multi-region support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Long Term:</a:t>
            </a:r>
          </a:p>
          <a:p>
            <a:pPr>
              <a:defRPr sz="1800">
                <a:latin typeface="Calibri"/>
              </a:defRPr>
            </a:pPr>
            <a:r>
              <a:t>• Auto-scaling based on queue depth</a:t>
            </a:r>
          </a:p>
          <a:p>
            <a:pPr>
              <a:defRPr sz="1800">
                <a:latin typeface="Calibri"/>
              </a:defRPr>
            </a:pPr>
            <a:r>
              <a:t>• Cost optimization analytics</a:t>
            </a:r>
          </a:p>
          <a:p>
            <a:pPr>
              <a:defRPr sz="1800">
                <a:latin typeface="Calibri"/>
              </a:defRPr>
            </a:pPr>
            <a:r>
              <a:t>• Advanced scheduling algorithms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Prerequisites:</a:t>
            </a:r>
          </a:p>
          <a:p>
            <a:pPr>
              <a:defRPr sz="1800">
                <a:latin typeface="Calibri"/>
              </a:defRPr>
            </a:pPr>
            <a:r>
              <a:t>• Docker Desktop with Kubernetes</a:t>
            </a:r>
          </a:p>
          <a:p>
            <a:pPr>
              <a:defRPr sz="1800">
                <a:latin typeface="Calibri"/>
              </a:defRPr>
            </a:pPr>
            <a:r>
              <a:t>• .NET 8 SDK</a:t>
            </a:r>
          </a:p>
          <a:p>
            <a:pPr>
              <a:defRPr sz="1800">
                <a:latin typeface="Calibri"/>
              </a:defRPr>
            </a:pPr>
            <a:r>
              <a:t>• kubectl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Deploy:</a:t>
            </a:r>
          </a:p>
          <a:p>
            <a:pPr>
              <a:defRPr sz="1800">
                <a:latin typeface="Calibri"/>
              </a:defRPr>
            </a:pPr>
            <a:r>
              <a:t>  ./scripts/redeploy-all.sh &lt;tag&gt;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Access:</a:t>
            </a:r>
          </a:p>
          <a:p>
            <a:pPr>
              <a:defRPr sz="1800">
                <a:latin typeface="Calibri"/>
              </a:defRPr>
            </a:pPr>
            <a:r>
              <a:t>• Portal: http://localhost:30081</a:t>
            </a:r>
          </a:p>
          <a:p>
            <a:pPr>
              <a:defRPr sz="1800">
                <a:latin typeface="Calibri"/>
              </a:defRPr>
            </a:pPr>
            <a:r>
              <a:t>• API: http://localhost:30080</a:t>
            </a:r>
          </a:p>
          <a:p>
            <a:pPr>
              <a:defRPr sz="1800">
                <a:latin typeface="Calibri"/>
              </a:defRPr>
            </a:pPr>
            <a:r>
              <a:t>• Grafana: http://localhost:30082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Create Your First Batch:</a:t>
            </a:r>
          </a:p>
          <a:p>
            <a:pPr>
              <a:defRPr sz="1800">
                <a:latin typeface="Calibri"/>
              </a:defRPr>
            </a:pPr>
            <a:r>
              <a:t>• Upload JSONL file</a:t>
            </a:r>
          </a:p>
          <a:p>
            <a:pPr>
              <a:defRPr sz="1800">
                <a:latin typeface="Calibri"/>
              </a:defRPr>
            </a:pPr>
            <a:r>
              <a:t>• Select priority</a:t>
            </a:r>
          </a:p>
          <a:p>
            <a:pPr>
              <a:defRPr sz="1800">
                <a:latin typeface="Calibri"/>
              </a:defRPr>
            </a:pPr>
            <a:r>
              <a:t>• Monitor progress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Throughput:</a:t>
            </a:r>
          </a:p>
          <a:p>
            <a:pPr>
              <a:defRPr sz="1800">
                <a:latin typeface="Calibri"/>
              </a:defRPr>
            </a:pPr>
            <a:r>
              <a:t>• Batches processed per hour</a:t>
            </a:r>
          </a:p>
          <a:p>
            <a:pPr>
              <a:defRPr sz="1800">
                <a:latin typeface="Calibri"/>
              </a:defRPr>
            </a:pPr>
            <a:r>
              <a:t>• Requests completed per minute</a:t>
            </a:r>
          </a:p>
          <a:p>
            <a:pPr>
              <a:defRPr sz="1800">
                <a:latin typeface="Calibri"/>
              </a:defRPr>
            </a:pPr>
            <a:r>
              <a:t>• Deduplication rate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Performance:</a:t>
            </a:r>
          </a:p>
          <a:p>
            <a:pPr>
              <a:defRPr sz="1800">
                <a:latin typeface="Calibri"/>
              </a:defRPr>
            </a:pPr>
            <a:r>
              <a:t>• Average processing time</a:t>
            </a:r>
          </a:p>
          <a:p>
            <a:pPr>
              <a:defRPr sz="1800">
                <a:latin typeface="Calibri"/>
              </a:defRPr>
            </a:pPr>
            <a:r>
              <a:t>• P95/P99 latencies</a:t>
            </a:r>
          </a:p>
          <a:p>
            <a:pPr>
              <a:defRPr sz="1800">
                <a:latin typeface="Calibri"/>
              </a:defRPr>
            </a:pPr>
            <a:r>
              <a:t>• SLA compliance rate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Cost:</a:t>
            </a:r>
          </a:p>
          <a:p>
            <a:pPr>
              <a:defRPr sz="1800">
                <a:latin typeface="Calibri"/>
              </a:defRPr>
            </a:pPr>
            <a:r>
              <a:t>• Spot vs dedicated utilization</a:t>
            </a:r>
          </a:p>
          <a:p>
            <a:pPr>
              <a:defRPr sz="1800">
                <a:latin typeface="Calibri"/>
              </a:defRPr>
            </a:pPr>
            <a:r>
              <a:t>• Cost savings from deduplication</a:t>
            </a:r>
          </a:p>
          <a:p>
            <a:pPr>
              <a:defRPr sz="1800">
                <a:latin typeface="Calibri"/>
              </a:defRPr>
            </a:pPr>
            <a:r>
              <a:t>• Worker pool efficiency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Reliability:</a:t>
            </a:r>
          </a:p>
          <a:p>
            <a:pPr>
              <a:defRPr sz="1800">
                <a:latin typeface="Calibri"/>
              </a:defRPr>
            </a:pPr>
            <a:r>
              <a:t>• Success rate</a:t>
            </a:r>
          </a:p>
          <a:p>
            <a:pPr>
              <a:defRPr sz="1800">
                <a:latin typeface="Calibri"/>
              </a:defRPr>
            </a:pPr>
            <a:r>
              <a:t>• Retry rate</a:t>
            </a:r>
          </a:p>
          <a:p>
            <a:pPr>
              <a:defRPr sz="1800">
                <a:latin typeface="Calibri"/>
              </a:defRPr>
            </a:pPr>
            <a:r>
              <a:t>• Spot interruption frequency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Batch Creation:</a:t>
            </a:r>
          </a:p>
          <a:p>
            <a:pPr>
              <a:defRPr sz="1800">
                <a:latin typeface="Calibri"/>
              </a:defRPr>
            </a:pPr>
            <a:r>
              <a:t>• Use appropriate priority levels</a:t>
            </a:r>
          </a:p>
          <a:p>
            <a:pPr>
              <a:defRPr sz="1800">
                <a:latin typeface="Calibri"/>
              </a:defRPr>
            </a:pPr>
            <a:r>
              <a:t>• Group similar workloads</a:t>
            </a:r>
          </a:p>
          <a:p>
            <a:pPr>
              <a:defRPr sz="1800">
                <a:latin typeface="Calibri"/>
              </a:defRPr>
            </a:pPr>
            <a:r>
              <a:t>• Monitor SLA deadlines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Cost Optimization:</a:t>
            </a:r>
          </a:p>
          <a:p>
            <a:pPr>
              <a:defRPr sz="1800">
                <a:latin typeface="Calibri"/>
              </a:defRPr>
            </a:pPr>
            <a:r>
              <a:t>• Leverage deduplication</a:t>
            </a:r>
          </a:p>
          <a:p>
            <a:pPr>
              <a:defRPr sz="1800">
                <a:latin typeface="Calibri"/>
              </a:defRPr>
            </a:pPr>
            <a:r>
              <a:t>• Use spot instances when possible</a:t>
            </a:r>
          </a:p>
          <a:p>
            <a:pPr>
              <a:defRPr sz="1800">
                <a:latin typeface="Calibri"/>
              </a:defRPr>
            </a:pPr>
            <a:r>
              <a:t>• Monitor escalation patterns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Monitoring:</a:t>
            </a:r>
          </a:p>
          <a:p>
            <a:pPr>
              <a:defRPr sz="1800">
                <a:latin typeface="Calibri"/>
              </a:defRPr>
            </a:pPr>
            <a:r>
              <a:t>• Set up Grafana dashboards</a:t>
            </a:r>
          </a:p>
          <a:p>
            <a:pPr>
              <a:defRPr sz="1800">
                <a:latin typeface="Calibri"/>
              </a:defRPr>
            </a:pPr>
            <a:r>
              <a:t>• Configure alerts</a:t>
            </a:r>
          </a:p>
          <a:p>
            <a:pPr>
              <a:defRPr sz="1800">
                <a:latin typeface="Calibri"/>
              </a:defRPr>
            </a:pPr>
            <a:r>
              <a:t>• Track key metrics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Development:</a:t>
            </a:r>
          </a:p>
          <a:p>
            <a:pPr>
              <a:defRPr sz="1800">
                <a:latin typeface="Calibri"/>
              </a:defRPr>
            </a:pPr>
            <a:r>
              <a:t>• Run tests before deployment</a:t>
            </a:r>
          </a:p>
          <a:p>
            <a:pPr>
              <a:defRPr sz="1800">
                <a:latin typeface="Calibri"/>
              </a:defRPr>
            </a:pPr>
            <a:r>
              <a:t>• Use schema validation tests</a:t>
            </a:r>
          </a:p>
          <a:p>
            <a:pPr>
              <a:defRPr sz="1800">
                <a:latin typeface="Calibri"/>
              </a:defRPr>
            </a:pPr>
            <a:r>
              <a:t>• Follow migration procedures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  <a:r>
              <a:t>✓ Production-Ready batch inference platform</a:t>
            </a:r>
          </a:p>
          <a:p>
            <a:pPr>
              <a:defRPr sz="1800">
                <a:latin typeface="Calibri"/>
              </a:defRPr>
            </a:pPr>
            <a:r>
              <a:t>✓ Cost-Optimized with spot instances and deduplication</a:t>
            </a:r>
          </a:p>
          <a:p>
            <a:pPr>
              <a:defRPr sz="1800">
                <a:latin typeface="Calibri"/>
              </a:defRPr>
            </a:pPr>
            <a:r>
              <a:t>✓ SLA-Aware with automatic escalation</a:t>
            </a:r>
          </a:p>
          <a:p>
            <a:pPr>
              <a:defRPr sz="1800">
                <a:latin typeface="Calibri"/>
              </a:defRPr>
            </a:pPr>
            <a:r>
              <a:t>✓ Priority-Based processing for critical workloads</a:t>
            </a:r>
          </a:p>
          <a:p>
            <a:pPr>
              <a:defRPr sz="1800">
                <a:latin typeface="Calibri"/>
              </a:defRPr>
            </a:pPr>
            <a:r>
              <a:t>✓ Fully Observable with Prometheus/Grafana</a:t>
            </a:r>
          </a:p>
          <a:p>
            <a:pPr>
              <a:defRPr sz="1800">
                <a:latin typeface="Calibri"/>
              </a:defRPr>
            </a:pPr>
            <a:r>
              <a:t>✓ Developer-Friendly with clean APIs and documentation</a:t>
            </a:r>
          </a:p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Ready for:</a:t>
            </a:r>
          </a:p>
          <a:p>
            <a:pPr>
              <a:defRPr sz="1800">
                <a:latin typeface="Calibri"/>
              </a:defRPr>
            </a:pPr>
            <a:r>
              <a:t>• Large-scale AI/ML batch processing</a:t>
            </a:r>
          </a:p>
          <a:p>
            <a:pPr>
              <a:defRPr sz="1800">
                <a:latin typeface="Calibri"/>
              </a:defRPr>
            </a:pPr>
            <a:r>
              <a:t>• Cost-sensitive deployments</a:t>
            </a:r>
          </a:p>
          <a:p>
            <a:pPr>
              <a:defRPr sz="1800">
                <a:latin typeface="Calibri"/>
              </a:defRPr>
            </a:pPr>
            <a:r>
              <a:t>• Priority-based workload management</a:t>
            </a:r>
          </a:p>
          <a:p>
            <a:pPr>
              <a:defRPr sz="1800">
                <a:latin typeface="Calibri"/>
              </a:defRPr>
            </a:pPr>
            <a:r>
              <a:t>• Enterprise production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Thank You!</a:t>
            </a:r>
          </a:p>
          <a:p/>
          <a:p>
            <a:r>
              <a:t>Contact &amp; Resources:</a:t>
            </a:r>
          </a:p>
          <a:p>
            <a:r>
              <a:t>• GitHub Repository</a:t>
            </a:r>
          </a:p>
          <a:p>
            <a:r>
              <a:t>• Documentation: README.md</a:t>
            </a:r>
          </a:p>
          <a:p>
            <a:r>
              <a:t>• API Documentation</a:t>
            </a:r>
          </a:p>
          <a:p>
            <a:r>
              <a:t>• Example Scripts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